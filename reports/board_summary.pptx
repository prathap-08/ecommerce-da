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Board Summary: E-Commerce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integrated data, SQL, Python analytics, and ML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KPI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Revenue: 7,273,684,809.51</a:t>
            </a:r>
          </a:p>
          <a:p>
            <a:pPr>
              <a:defRPr sz="1800"/>
            </a:pPr>
            <a:r>
              <a:t>Profit: 2,461,320,844.96</a:t>
            </a:r>
          </a:p>
          <a:p>
            <a:pPr>
              <a:defRPr sz="1800"/>
            </a:pPr>
            <a:r>
              <a:t>Margin: 33.84%</a:t>
            </a:r>
          </a:p>
          <a:p>
            <a:pPr>
              <a:defRPr sz="1800"/>
            </a:pPr>
            <a:r>
              <a:t>Delivered Orders: 108,982</a:t>
            </a:r>
          </a:p>
          <a:p>
            <a:pPr>
              <a:defRPr sz="1800"/>
            </a:pPr>
            <a:r>
              <a:t>Average Order Value: 66,742.07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Demand and Profit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Peak month: 2025-12 (429,045,348.98)</a:t>
            </a:r>
          </a:p>
          <a:p>
            <a:pPr>
              <a:defRPr sz="1800"/>
            </a:pPr>
            <a:r>
              <a:t>Lowest month: 2025-02 (221,143,036.36)</a:t>
            </a:r>
          </a:p>
          <a:p>
            <a:pPr>
              <a:defRPr sz="1800"/>
            </a:pPr>
            <a:r>
              <a:t>Top profit category: Electronics (1,625,934,342.31)</a:t>
            </a:r>
          </a:p>
          <a:p>
            <a:pPr>
              <a:defRPr sz="1800"/>
            </a:pPr>
            <a:r>
              <a:t>Lowest margin category: Beauty (31.39%)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 (RFM)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Highest value segment: Champions</a:t>
            </a:r>
          </a:p>
          <a:p>
            <a:pPr>
              <a:defRPr sz="1800"/>
            </a:pPr>
            <a:r>
              <a:t>Segment customers: 3,015</a:t>
            </a:r>
          </a:p>
          <a:p>
            <a:pPr>
              <a:defRPr sz="1800"/>
            </a:pPr>
            <a:r>
              <a:t>Segment revenue: 1,870,408,866.71</a:t>
            </a:r>
          </a:p>
          <a:p>
            <a:pPr>
              <a:defRPr sz="1800"/>
            </a:pPr>
            <a:r>
              <a:t>Use CRM priority tags P1/P2/P3 from export to sequence campaigns.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and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Forecasted peak month: 2026-06 (305,811,615.32)</a:t>
            </a:r>
          </a:p>
          <a:p>
            <a:pPr>
              <a:defRPr sz="1800"/>
            </a:pPr>
            <a:r>
              <a:t>Scale inventory and logistics 6-8 weeks ahead of projected peaks.</a:t>
            </a:r>
          </a:p>
          <a:p>
            <a:pPr>
              <a:defRPr sz="1800"/>
            </a:pPr>
            <a:r>
              <a:t>Activate cross-sell recommendations for high-frequency cohorts.</a:t>
            </a:r>
          </a:p>
          <a:p>
            <a:pPr>
              <a:defRPr sz="1800"/>
            </a:pPr>
            <a:r>
              <a:t>Protect margins by reviewing deep-discount categories monthly.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Revenue Trend</a:t>
            </a:r>
          </a:p>
        </p:txBody>
      </p:sp>
      <p:pic>
        <p:nvPicPr>
          <p:cNvPr id="3" name="Picture 2" descr="monthly_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72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Profit</a:t>
            </a:r>
          </a:p>
        </p:txBody>
      </p:sp>
      <p:pic>
        <p:nvPicPr>
          <p:cNvPr id="3" name="Picture 2" descr="category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72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Retention Curve</a:t>
            </a:r>
          </a:p>
        </p:txBody>
      </p:sp>
      <p:pic>
        <p:nvPicPr>
          <p:cNvPr id="3" name="Picture 2" descr="reten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72800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